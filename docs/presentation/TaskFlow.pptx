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E07856">
              <a:alpha val="12000"/>
            </a:srgbClr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4114800"/>
            <a:ext cx="5486400" cy="5486400"/>
          </a:xfrm>
          <a:prstGeom prst="ellipse">
            <a:avLst/>
          </a:prstGeom>
          <a:solidFill>
            <a:srgbClr val="D4A373">
              <a:alpha val="12000"/>
            </a:srgbClr>
          </a:solidFill>
          <a:ln w="12700">
            <a:solidFill>
              <a:srgbClr val="D4A3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&amp; DELIVERY PLAN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TaskFlow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management platform for a marketing agency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822960" cy="73152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A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Company 31  ·  Manuel  ·  May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463040"/>
            <a:ext cx="11155680" cy="123444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0876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078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2468880" y="16459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architecture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468880" y="214884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diagram, technology choices, NFRs, and the assumptions behind them.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880360"/>
            <a:ext cx="11155680" cy="123444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92608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078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2468880" y="306324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plan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468880" y="356616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roadmap, team shape, top risks, and how we'd surface trouble early.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4297680"/>
            <a:ext cx="11155680" cy="123444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3434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078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2468880" y="448056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leadership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68880" y="49834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of working, handling a pushy PO, and what I'd ask on day one.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61264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companion repo is the reference implementation. This deck explains the choices behind it.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Assumptions I'm working from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5486400" cy="123444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1280160" cy="292608"/>
          </a:xfrm>
          <a:prstGeom prst="rect">
            <a:avLst/>
          </a:prstGeom>
          <a:solidFill>
            <a:srgbClr val="1E5E63"/>
          </a:solidFill>
          <a:ln w="12700">
            <a:solidFill>
              <a:srgbClr val="1E5E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50 to 200 users initially, for one agency. Steady-state, not spiky.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486400" cy="123444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1600200"/>
            <a:ext cx="1280160" cy="2926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00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TENANCY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tenant on day one. The design admits multi tenant later.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88920"/>
            <a:ext cx="5486400" cy="123444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017520"/>
            <a:ext cx="1280160" cy="292608"/>
          </a:xfrm>
          <a:prstGeom prst="rect">
            <a:avLst/>
          </a:prstGeom>
          <a:solidFill>
            <a:srgbClr val="7A9E7E"/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17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3429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and EU data residency presumed. Marketing data is personal data.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2788920"/>
            <a:ext cx="5486400" cy="123444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17520"/>
            <a:ext cx="1280160" cy="292608"/>
          </a:xfrm>
          <a:prstGeom prst="rect">
            <a:avLst/>
          </a:prstGeom>
          <a:solidFill>
            <a:srgbClr val="D4A373"/>
          </a:solidFill>
          <a:ln w="12700">
            <a:solidFill>
              <a:srgbClr val="D4A3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017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537960" y="3429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300ms p95 for screen loads is plenty. This is not a trading app.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206240"/>
            <a:ext cx="5486400" cy="123444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434840"/>
            <a:ext cx="1280160" cy="292608"/>
          </a:xfrm>
          <a:prstGeom prst="rect">
            <a:avLst/>
          </a:prstGeom>
          <a:solidFill>
            <a:srgbClr val="7E5A9B"/>
          </a:solidFill>
          <a:ln w="12700">
            <a:solidFill>
              <a:srgbClr val="7E5A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4348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" y="4846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launch requirement. We model commands and events so it bolts on cleanly.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4206240"/>
            <a:ext cx="5486400" cy="123444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37960" y="4434840"/>
            <a:ext cx="1280160" cy="292608"/>
          </a:xfrm>
          <a:prstGeom prst="rect">
            <a:avLst/>
          </a:prstGeom>
          <a:solidFill>
            <a:srgbClr val="1E5E63"/>
          </a:solidFill>
          <a:ln w="12700">
            <a:solidFill>
              <a:srgbClr val="1E5E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44348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37960" y="48463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preferred (matches the .NET stack). Agnostic where it costs us little.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inputs, not conclusions. Each becomes a day one question (see slide 16).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7A9E7E">
              <a:alpha val="12000"/>
            </a:srgbClr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E07856">
              <a:alpha val="14000"/>
            </a:srgbClr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4A3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822960" cy="73152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architecture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A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architecture, technology choices, and the trade-offs behind each.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architecture, top down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11155680" cy="50292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11155680" cy="50292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Front Door / Cloudflare  ·  WAF, TLS termination, DDoS protection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560320"/>
            <a:ext cx="4663440" cy="9144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6334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SPA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bundle on Blob Storage + CDN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32120" y="2560320"/>
            <a:ext cx="6126480" cy="914400"/>
          </a:xfrm>
          <a:prstGeom prst="rect">
            <a:avLst/>
          </a:prstGeom>
          <a:solidFill>
            <a:srgbClr val="0F4C5C"/>
          </a:solidFill>
          <a:ln w="9525">
            <a:solidFill>
              <a:srgbClr val="0F4C5C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760720" y="263347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 API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760720" y="30175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A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  ·  Azure Container Apps  ·  2 to 10 replicas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611880"/>
            <a:ext cx="11155680" cy="50292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6118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provider. Entra ID or Auth0, OIDC into JWT bearer.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206240"/>
            <a:ext cx="3474720" cy="9144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2793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DB  ·  daily PITR  ·  read replica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43400" y="4206240"/>
            <a:ext cx="3474720" cy="9144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42793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0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rate limit, cache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83880" y="4206240"/>
            <a:ext cx="3474720" cy="9144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412480" y="42793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0" y="4663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Attachments, audit exports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5257800"/>
            <a:ext cx="6126480" cy="50292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52578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into Application Insights or Honeycomb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95160" y="5257800"/>
            <a:ext cx="4663440" cy="50292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223760" y="5257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 ·  managed identities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 choices &amp; the trade-offs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017520"/>
                <a:gridCol w="6766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BF7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BF7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BF7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and trade-off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5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Angular 18 (standalone, signals)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Batteries included, strict TS by default. Heavier bundle than React, fine at this scale.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5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.NET 8 minimal APIs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LTS until Nov 2026, fast, mature ecosystem. Swap to Controllers if the team prefers.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5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Open, mature, JSONB if we need flexibility. SQL Server would work; Postgres is cheaper and more portable.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5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OIDC + JWT bearer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with whatever IdP the agency has. We're not in the auth business.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5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Container Apps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scale to zero, no Kubernetes ops overhead. Vendor coupling abstracted behind IaC.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5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OpenTelemetry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Standardised, swappable backend (App Insights, Honeycomb, Grafana Cloud).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5E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+ Bicep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repo, same review surface. Bicep over Terraform when Azure only.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architecture addresses non functionals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5486400" cy="91440"/>
          </a:xfrm>
          <a:prstGeom prst="rect">
            <a:avLst/>
          </a:prstGeom>
          <a:solidFill>
            <a:srgbClr val="1E5E63"/>
          </a:solidFill>
          <a:ln w="12700">
            <a:solidFill>
              <a:srgbClr val="1E5E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into JWT bearer, short lived tokens, refresh on the gateway.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Key Vault via managed identity. None in env files.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in front, dependabot and Snyk on PRs.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scoping enforced at the repository layer.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371600"/>
            <a:ext cx="5486400" cy="9144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API, horizontal scale on CPU and RPS metrics.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read replica for reporting workloads.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for hot reads (board view, user lookups).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pagination on list endpoints from day one.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3794760"/>
            <a:ext cx="5486400" cy="91440"/>
          </a:xfrm>
          <a:prstGeom prst="rect">
            <a:avLst/>
          </a:prstGeom>
          <a:solidFill>
            <a:srgbClr val="7A9E7E"/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5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probes (liveness vs readiness).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and green deploys with automated rollback on SLO burn.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PITR plus nightly logical backups off region.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with jitter. Circuit breaker on third parties.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3794760"/>
            <a:ext cx="5486400" cy="91440"/>
          </a:xfrm>
          <a:prstGeom prst="rect">
            <a:avLst/>
          </a:prstGeom>
          <a:solidFill>
            <a:srgbClr val="D4A373"/>
          </a:solidFill>
          <a:ln w="12700">
            <a:solidFill>
              <a:srgbClr val="D4A3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logs (Serilog) with traceId per request.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traces: browser into API into database.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metrics plus SLOs per endpoint.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burn rate, not on threshold spikes.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7A9E7E">
              <a:alpha val="12000"/>
            </a:srgbClr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E07856">
              <a:alpha val="14000"/>
            </a:srgbClr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4A3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822960" cy="73152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plan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A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Roadmap, team shape, the risks we'll watch, and how we'll know early.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Phased roadmap, prototype to launch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2139696" cy="45262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2139696" cy="109728"/>
          </a:xfrm>
          <a:prstGeom prst="rect">
            <a:avLst/>
          </a:prstGeom>
          <a:solidFill>
            <a:srgbClr val="6D6875"/>
          </a:solidFill>
          <a:ln w="12700">
            <a:solidFill>
              <a:srgbClr val="6D687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1664208"/>
            <a:ext cx="1005840" cy="30175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66420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4088" y="20848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0 · Foundation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04088" y="2743200"/>
            <a:ext cx="17373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repo, ADRs, environments wired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workshops (users, integrations)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provider and hosting confirmed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56916" y="1371600"/>
            <a:ext cx="2139696" cy="45262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56916" y="1371600"/>
            <a:ext cx="2139696" cy="109728"/>
          </a:xfrm>
          <a:prstGeom prst="rect">
            <a:avLst/>
          </a:prstGeom>
          <a:solidFill>
            <a:srgbClr val="1E5E63"/>
          </a:solidFill>
          <a:ln w="12700">
            <a:solidFill>
              <a:srgbClr val="1E5E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58084" y="1664208"/>
            <a:ext cx="1005840" cy="30175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8084" y="166420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 to 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58084" y="20848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· MVP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58084" y="2743200"/>
            <a:ext cx="17373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multi user, tasks, assignment, due dates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CI/CD, staging, structured logs, traces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UAT with three client users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10912" y="1371600"/>
            <a:ext cx="2139696" cy="45262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10912" y="1371600"/>
            <a:ext cx="2139696" cy="109728"/>
          </a:xfrm>
          <a:prstGeom prst="rect">
            <a:avLst/>
          </a:prstGeom>
          <a:solidFill>
            <a:srgbClr val="7E5A9B"/>
          </a:solidFill>
          <a:ln w="12700">
            <a:solidFill>
              <a:srgbClr val="7E5A9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12080" y="1664208"/>
            <a:ext cx="1005840" cy="30175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166420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4 to 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12080" y="20848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· Beta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2743200"/>
            <a:ext cx="17373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Comments, notifications, attachments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time updates (SignalR)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and accessibility audit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64908" y="1371600"/>
            <a:ext cx="2139696" cy="45262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264908" y="1371600"/>
            <a:ext cx="2139696" cy="109728"/>
          </a:xfrm>
          <a:prstGeom prst="rect">
            <a:avLst/>
          </a:prstGeom>
          <a:solidFill>
            <a:srgbClr val="7A9E7E"/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66076" y="1664208"/>
            <a:ext cx="1005840" cy="30175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66076" y="166420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7 to 9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66076" y="20848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· Launch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466076" y="2743200"/>
            <a:ext cx="17373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review, pen test remediation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SLOs and alerting, runbooks written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rollout (10%, 50%, 100%)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518904" y="1371600"/>
            <a:ext cx="2139696" cy="45262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518904" y="1371600"/>
            <a:ext cx="2139696" cy="109728"/>
          </a:xfrm>
          <a:prstGeom prst="rect">
            <a:avLst/>
          </a:prstGeom>
          <a:solidFill>
            <a:srgbClr val="D4A373"/>
          </a:solidFill>
          <a:ln w="12700">
            <a:solidFill>
              <a:srgbClr val="D4A37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20072" y="1664208"/>
            <a:ext cx="1005840" cy="30175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20072" y="1664208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10+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20072" y="208483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 · Iterate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720072" y="2743200"/>
            <a:ext cx="17373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driven backlog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debt budget (10 to 15% per sprint)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architecture review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composition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5486400" cy="91440"/>
          </a:xfrm>
          <a:prstGeom prst="rect">
            <a:avLst/>
          </a:prstGeom>
          <a:solidFill>
            <a:srgbClr val="1E5E63"/>
          </a:solidFill>
          <a:ln w="12700">
            <a:solidFill>
              <a:srgbClr val="1E5E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Core, full time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lead (me). Code, architecture, stakeholders.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full stack engineers (mid or senior). Vertical slice delivery.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frontend with UX leaning. Pattern library, accessibility, performance.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371600"/>
            <a:ext cx="5486400" cy="9144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Shared, part 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and platform (~50%). IaC, pipelines, on call.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(~25%). Flows, tokens, accessibility.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(~50% from Phase 2). Exploratory and automation.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3794760"/>
            <a:ext cx="5486400" cy="91440"/>
          </a:xfrm>
          <a:prstGeom prst="rect">
            <a:avLst/>
          </a:prstGeom>
          <a:solidFill>
            <a:srgbClr val="7A9E7E"/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5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 with real authority over scope.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three pilot users for weekly demos and UAT.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3794760"/>
            <a:ext cx="5486400" cy="91440"/>
          </a:xfrm>
          <a:prstGeom prst="rect">
            <a:avLst/>
          </a:prstGeom>
          <a:solidFill>
            <a:srgbClr val="D4A373"/>
          </a:solidFill>
          <a:ln w="12700">
            <a:solidFill>
              <a:srgbClr val="D4A3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for one stand-up. Big enough for sustained pace.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spread enables mentorship without bottlenecks.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arrive when their work is the bottleneck, not before.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risks and how we'll mitigate them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1556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011680"/>
                <a:gridCol w="566928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BF7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BF7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Likelihood / impact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BF7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creep, the "just one more"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93D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/ 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9C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MVP definition, change control via PO, weekly demos surface trade-offs early.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provider undecided by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5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OIDC abstraction lets us swap; day one question. Default to Entra ID if undecided.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migration from current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5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in week one; if non trivial, build an importer in Phase 2, not as a launch blocker.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compliance requirement (GDPR/ICO)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5C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3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review with legal in week one; data model with PII flags plus export/delete from day one.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Realtime becomes a launch must have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5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/ 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built around commands and queries; SignalR layers on without changing the data model.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person dependency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5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2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1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 programming, rotating reviewers, ADRs and runbooks in repo.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I'll surface delivery issues early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5486400" cy="91440"/>
          </a:xfrm>
          <a:prstGeom prst="rect">
            <a:avLst/>
          </a:prstGeom>
          <a:solidFill>
            <a:srgbClr val="1E5E63"/>
          </a:solidFill>
          <a:ln w="12700">
            <a:solidFill>
              <a:srgbClr val="1E5E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 sprints; Friday demos to PO and pilot users.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15 minute stand-up. Risks and blockers first, status second.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written status: RAG, top three risks, asks.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371600"/>
            <a:ext cx="5486400" cy="9144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metrics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DORA: lead time, deploy frequency, MTTR, change failure rate.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cycle time and review latency on the dashboard.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Flaky test budget enforced. No green on retry merges.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3794760"/>
            <a:ext cx="5486400" cy="91440"/>
          </a:xfrm>
          <a:prstGeom prst="rect">
            <a:avLst/>
          </a:prstGeom>
          <a:solidFill>
            <a:srgbClr val="7A9E7E"/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5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signals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 up of MVP scope vs target launch.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tag up with pilot users for qualitative feedback.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deploy error rate and latency dashboards on Monday.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3794760"/>
            <a:ext cx="5486400" cy="91440"/>
          </a:xfrm>
          <a:prstGeom prst="rect">
            <a:avLst/>
          </a:prstGeom>
          <a:solidFill>
            <a:srgbClr val="D4A373"/>
          </a:solidFill>
          <a:ln w="12700">
            <a:solidFill>
              <a:srgbClr val="D4A3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Surfacing problems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status is honest, not optimistic. Amber early beats red late.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sprint slips, the deliverable changes, not the date.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Blameless post mortems for incidents over 30 minutes.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7A9E7E">
              <a:alpha val="12000"/>
            </a:srgbClr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E07856">
              <a:alpha val="14000"/>
            </a:srgbClr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3736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4A3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822960" cy="73152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leadership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A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Standards, contentious conversations, and what I'd ask on day one.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 the team up for success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5486400" cy="91440"/>
          </a:xfrm>
          <a:prstGeom prst="rect">
            <a:avLst/>
          </a:prstGeom>
          <a:solidFill>
            <a:srgbClr val="1E5E63"/>
          </a:solidFill>
          <a:ln w="12700">
            <a:solidFill>
              <a:srgbClr val="1E5E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of working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 based dev, short lived branches, daily merges.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on risky/new work; mob occasionally for shared learning.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debt time blocked weekly. Not optional.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recorded as ADRs in repo, not in chat.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371600"/>
            <a:ext cx="5486400" cy="9144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standards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TypeScript, nullable refs, warnings as errors.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is the API contract. Client types generated.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endpoint ships with an integration test.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are structured. No Console.WriteLine.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3794760"/>
            <a:ext cx="5486400" cy="91440"/>
          </a:xfrm>
          <a:prstGeom prst="rect">
            <a:avLst/>
          </a:prstGeom>
          <a:solidFill>
            <a:srgbClr val="7A9E7E"/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5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approver for low risk; 2 for prod paths, schema, or auth.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 first. Reviewer reads it before the diff.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timely (4 hour target). Slow review kills flow.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split into blocking / nit / question.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3794760"/>
            <a:ext cx="5486400" cy="91440"/>
          </a:xfrm>
          <a:prstGeom prst="rect">
            <a:avLst/>
          </a:prstGeom>
          <a:solidFill>
            <a:srgbClr val="D4A373"/>
          </a:solidFill>
          <a:ln w="12700">
            <a:solidFill>
              <a:srgbClr val="D4A3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written and passing locally and in CI.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staging. Observable in logs and traces.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spot check (WCAG 2.1 AA). User docs updated.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in place if rollback is not trivial.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PO wants this feature now, but it's risky"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5486400" cy="13258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18488"/>
            <a:ext cx="594360" cy="594360"/>
          </a:xfrm>
          <a:prstGeom prst="ellipse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1848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5727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Acknowledge the goal.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63040" y="193852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feature exists because of a real outcome the PO needs. Start there, not at "no".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371600"/>
            <a:ext cx="5486400" cy="13258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618488"/>
            <a:ext cx="594360" cy="594360"/>
          </a:xfrm>
          <a:prstGeom prst="ellipse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61848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223760" y="15727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the risk concrete.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193852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breaks? Who's affected? What's the blast radius? Numbers, not adjectives.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880360"/>
            <a:ext cx="5486400" cy="13258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127248"/>
            <a:ext cx="594360" cy="594360"/>
          </a:xfrm>
          <a:prstGeom prst="ellipse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12724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30815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 options, not roadblocks.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63040" y="344728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smaller scope. A time boxed spike. A flag protected rollout. Always two paths.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880360"/>
            <a:ext cx="5486400" cy="13258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127248"/>
            <a:ext cx="594360" cy="594360"/>
          </a:xfrm>
          <a:prstGeom prst="ellipse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12724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23760" y="30815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Quantify "fast" vs "safe".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23760" y="344728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Days, not feelings. The PO can choose with eyes open.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389120"/>
            <a:ext cx="5486400" cy="13258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4636008"/>
            <a:ext cx="594360" cy="594360"/>
          </a:xfrm>
          <a:prstGeom prst="ellipse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636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63040" y="4590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they still push.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463040" y="495604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decision and risks as an ADR; explicit sign-off; ship behind a kill-switch with heightened monitoring.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4389120"/>
            <a:ext cx="5486400" cy="132588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92240" y="4636008"/>
            <a:ext cx="594360" cy="594360"/>
          </a:xfrm>
          <a:prstGeom prst="ellipse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4636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23760" y="4590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Never.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223760" y="495604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"no" as the engineer alone, or "yes" without the trade-off visible to whoever owns the budget.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I'd ask on day 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5486400" cy="91440"/>
          </a:xfrm>
          <a:prstGeom prst="rect">
            <a:avLst/>
          </a:prstGeom>
          <a:solidFill>
            <a:srgbClr val="1E5E63"/>
          </a:solidFill>
          <a:ln w="12700">
            <a:solidFill>
              <a:srgbClr val="1E5E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users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actually uses this? Roles, team sizes, technical comfort?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 busy day look like today?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email/calls/meetings do they want to replace vs supplement?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137160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371600"/>
            <a:ext cx="5486400" cy="9144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57276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05740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work live today? Spreadsheets, inboxes, tools?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to import on day one, or do we start fresh?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agency's clients ever exposed to this app?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3794760"/>
            <a:ext cx="5486400" cy="91440"/>
          </a:xfrm>
          <a:prstGeom prst="rect">
            <a:avLst/>
          </a:prstGeom>
          <a:solidFill>
            <a:srgbClr val="7A9E7E"/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5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hosting and identity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cloud provider and identity (Entra, Google, Okta)?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UK/EU data residency required? PII categories present?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security/platform standards to inherit?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794760"/>
            <a:ext cx="5486400" cy="228600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27000" dist="25400" dir="5400000">
              <a:srgbClr val="2D3142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63640" y="3794760"/>
            <a:ext cx="5486400" cy="91440"/>
          </a:xfrm>
          <a:prstGeom prst="rect">
            <a:avLst/>
          </a:prstGeom>
          <a:solidFill>
            <a:srgbClr val="D4A373"/>
          </a:solidFill>
          <a:ln w="12700">
            <a:solidFill>
              <a:srgbClr val="D4A37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99592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launch and success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4480560"/>
            <a:ext cx="4983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v1 success look like? Measurable?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decides scope when pressure to add more arrives?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budget for ongoing operation post launch?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I'd answer them in the first two weeks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1463040" cy="8229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37760" y="15087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minute sessions per user role; observe a typical day on site or shadow remote calls.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2860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286000"/>
            <a:ext cx="1463040" cy="8229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0312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Written discovery.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24231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docs, policies, integration touch points; security/IT alignment.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3200400"/>
            <a:ext cx="1463040" cy="8229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2004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337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Wireframes.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375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fi mockups validated with pilot users before any code beyond the prototype.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1148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4114800"/>
            <a:ext cx="1463040" cy="8229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114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03120" y="4251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ADRs published.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42519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provider, hosting region, data model approach. Written down and signed off.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02920" y="5029200"/>
            <a:ext cx="1463040" cy="82296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5029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03120" y="5166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Assumption log.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937760" y="516636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we couldn't answer is logged with a target date for resolution.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1183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Concerns I would raise about the brief and prototype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914400" cy="64008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109728" cy="82296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813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"Production ready" is undefined.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40680" y="14813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explicit acceptance criteria: uptime, security, accessibility, observability targets.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2860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2286000"/>
            <a:ext cx="109728" cy="82296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957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identity model in the prototype.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40680" y="23957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auth plus tenant scoping reshape every endpoint. Front-load this; it is not bolt-on.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2004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3200400"/>
            <a:ext cx="109728" cy="82296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3101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hosting or compliance constraint.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40680" y="33101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data is personal data. GDPR is in scope by default. Pin this down day one.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1148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4114800"/>
            <a:ext cx="109728" cy="82296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245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"Coordinate" is broader than tasks.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40680" y="42245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calls, meetings imply notifications, mentions, summaries. Clarify what's v1 vs Phase 2.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822960"/>
          </a:xfrm>
          <a:prstGeom prst="rect">
            <a:avLst/>
          </a:prstGeom>
          <a:solidFill>
            <a:srgbClr val="FAF3E7"/>
          </a:solidFill>
          <a:ln w="9525">
            <a:solidFill>
              <a:srgbClr val="E7DCC8"/>
            </a:solidFill>
            <a:prstDash val="solid"/>
          </a:ln>
          <a:effectLst>
            <a:outerShdw sx="100000" sy="100000" kx="0" ky="0" algn="bl" rotWithShape="0" blurRad="101600" dist="25400" dir="5400000">
              <a:srgbClr val="2D3142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" y="5029200"/>
            <a:ext cx="109728" cy="822960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13892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Likely a multi app workflow.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0680" y="513892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or Teams integration may be unavoidable. Confirm in week one before architectural choices bake in.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D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 ·  Company 31  ·  May 2026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228832" y="6492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7A9E7E">
              <a:alpha val="12000"/>
            </a:srgbClr>
          </a:solidFill>
          <a:ln w="12700">
            <a:solidFill>
              <a:srgbClr val="7A9E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E07856">
              <a:alpha val="14000"/>
            </a:srgbClr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BF7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"Production ready" isn't a checkbox.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A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small team shipping every week, behind feature flags, with the trade-offs written down where everyone can see them.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212080"/>
            <a:ext cx="822960" cy="73152"/>
          </a:xfrm>
          <a:prstGeom prst="rect">
            <a:avLst/>
          </a:prstGeom>
          <a:solidFill>
            <a:srgbClr val="E07856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repo  ·  github.com/c31labs/global360assignement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Company 31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TaskFlow. Architecture, Delivery, Leadership</dc:title>
  <dc:subject>PptxGenJS Presentation</dc:subject>
  <dc:creator>Manuel</dc:creator>
  <cp:lastModifiedBy>Manuel</cp:lastModifiedBy>
  <cp:revision>1</cp:revision>
  <dcterms:created xsi:type="dcterms:W3CDTF">2026-05-14T10:58:21Z</dcterms:created>
  <dcterms:modified xsi:type="dcterms:W3CDTF">2026-05-14T10:58:21Z</dcterms:modified>
</cp:coreProperties>
</file>